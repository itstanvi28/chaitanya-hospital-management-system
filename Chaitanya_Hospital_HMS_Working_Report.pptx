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234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2011680"/>
            <a:ext cx="9601200" cy="2743200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pPr>
              <a:defRPr sz="4400" b="1">
                <a:solidFill>
                  <a:srgbClr val="FFFFFF"/>
                </a:solidFill>
                <a:latin typeface="Poppins"/>
              </a:defRPr>
            </a:pPr>
            <a:r>
              <a:t>Chaitanya Multi Speciality Hospital</a:t>
            </a:r>
          </a:p>
          <a:p>
            <a:pPr>
              <a:spcBef>
                <a:spcPts val="1000"/>
              </a:spcBef>
              <a:defRPr sz="2200">
                <a:solidFill>
                  <a:srgbClr val="009688"/>
                </a:solidFill>
                <a:latin typeface="Poppins"/>
              </a:defRPr>
            </a:pPr>
            <a:r>
              <a:t>Hospital Management System (HMS) — Working Report</a:t>
            </a:r>
          </a:p>
          <a:p>
            <a:pPr>
              <a:spcBef>
                <a:spcPts val="4000"/>
              </a:spcBef>
              <a:defRPr sz="1400">
                <a:solidFill>
                  <a:srgbClr val="B4BED2"/>
                </a:solidFill>
                <a:latin typeface="Poppins"/>
              </a:defRPr>
            </a:pPr>
            <a:r>
              <a:t>Prepared by: Pranav (Intern)</a:t>
            </a:r>
            <a:br/>
            <a:r>
              <a:t>Date: June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65760"/>
            <a:ext cx="10820095" cy="731520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pPr>
              <a:defRPr sz="2800" b="1">
                <a:solidFill>
                  <a:srgbClr val="0C2340"/>
                </a:solidFill>
                <a:latin typeface="Poppins"/>
              </a:defRPr>
            </a:pPr>
            <a:r>
              <a:t>Project Overview &amp; Context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051560"/>
            <a:ext cx="1828800" cy="54864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645920"/>
            <a:ext cx="10820095" cy="4572000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pPr>
              <a:spcAft>
                <a:spcPts val="1400"/>
              </a:spcAft>
              <a:defRPr sz="2000" b="1">
                <a:solidFill>
                  <a:srgbClr val="009688"/>
                </a:solidFill>
                <a:latin typeface="Poppins"/>
              </a:defRPr>
            </a:pPr>
            <a:r>
              <a:t>From Static Design to Full-Stack Application</a:t>
            </a:r>
          </a:p>
          <a:p>
            <a:pPr>
              <a:spcBef>
                <a:spcPts val="1200"/>
              </a:spcBef>
              <a:defRPr sz="1600">
                <a:solidFill>
                  <a:srgbClr val="333333"/>
                </a:solidFill>
                <a:latin typeface="Poppins"/>
              </a:defRPr>
            </a:pPr>
            <a:r>
              <a:rPr b="1">
                <a:solidFill>
                  <a:srgbClr val="0C2340"/>
                </a:solidFill>
              </a:rPr>
              <a:t>• Original Internship Plan:</a:t>
            </a:r>
            <a:r>
              <a:t> Build a simple, static front-end website with simulated, in-memory data that resets on page refresh.</a:t>
            </a:r>
          </a:p>
          <a:p>
            <a:pPr>
              <a:spcBef>
                <a:spcPts val="1200"/>
              </a:spcBef>
              <a:defRPr sz="1600">
                <a:solidFill>
                  <a:srgbClr val="333333"/>
                </a:solidFill>
                <a:latin typeface="Poppins"/>
              </a:defRPr>
            </a:pPr>
            <a:r>
              <a:rPr b="1">
                <a:solidFill>
                  <a:srgbClr val="0C2340"/>
                </a:solidFill>
              </a:rPr>
              <a:t>• Advanced Implementation:</a:t>
            </a:r>
            <a:r>
              <a:t> Upgraded the system to a database-driven web application with a PHP backend API and a persistent MySQL database.</a:t>
            </a:r>
          </a:p>
          <a:p>
            <a:pPr>
              <a:spcBef>
                <a:spcPts val="1200"/>
              </a:spcBef>
              <a:defRPr sz="1600">
                <a:solidFill>
                  <a:srgbClr val="333333"/>
                </a:solidFill>
                <a:latin typeface="Poppins"/>
              </a:defRPr>
            </a:pPr>
            <a:r>
              <a:rPr b="1">
                <a:solidFill>
                  <a:srgbClr val="0C2340"/>
                </a:solidFill>
              </a:rPr>
              <a:t>• User Interface Aesthetics:</a:t>
            </a:r>
            <a:r>
              <a:t> Implemented modern web standards with Google Fonts (Poppins), custom variables, smooth transitions, and glassmorphism elements.</a:t>
            </a:r>
          </a:p>
          <a:p>
            <a:pPr>
              <a:spcBef>
                <a:spcPts val="1200"/>
              </a:spcBef>
              <a:defRPr sz="1600">
                <a:solidFill>
                  <a:srgbClr val="333333"/>
                </a:solidFill>
                <a:latin typeface="Poppins"/>
              </a:defRPr>
            </a:pPr>
            <a:r>
              <a:rPr b="1">
                <a:solidFill>
                  <a:srgbClr val="0C2340"/>
                </a:solidFill>
              </a:rPr>
              <a:t>• Dual Interfaces:</a:t>
            </a:r>
            <a:r>
              <a:t> Public-facing information &amp; appointment booking portal (`index.html`) integrated with an Administrator Dashboard (`dashboard.html`).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65760"/>
            <a:ext cx="10820095" cy="731520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pPr>
              <a:defRPr sz="2800" b="1">
                <a:solidFill>
                  <a:srgbClr val="0C2340"/>
                </a:solidFill>
                <a:latin typeface="Poppins"/>
              </a:defRPr>
            </a:pPr>
            <a:r>
              <a:t>System Architecture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051560"/>
            <a:ext cx="1828800" cy="54864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645920"/>
            <a:ext cx="3291840" cy="4389120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pPr>
              <a:spcAft>
                <a:spcPts val="1000"/>
              </a:spcAft>
              <a:defRPr b="1" sz="1800">
                <a:solidFill>
                  <a:srgbClr val="0C2340"/>
                </a:solidFill>
              </a:defRPr>
            </a:pPr>
            <a:r>
              <a:t>1. Frontend (UI/UX)</a:t>
            </a:r>
          </a:p>
          <a:p>
            <a:pPr>
              <a:spcBef>
                <a:spcPts val="800"/>
              </a:spcBef>
              <a:defRPr sz="1400">
                <a:solidFill>
                  <a:srgbClr val="333333"/>
                </a:solidFill>
              </a:defRPr>
            </a:pPr>
            <a:r>
              <a:rPr b="1"/>
              <a:t>• Pure HTML5 &amp; CSS3:</a:t>
            </a:r>
            <a:r>
              <a:t> No bloated frameworks; clean, hand-written styling sheets.</a:t>
            </a:r>
          </a:p>
          <a:p>
            <a:pPr>
              <a:spcBef>
                <a:spcPts val="800"/>
              </a:spcBef>
              <a:defRPr sz="1400">
                <a:solidFill>
                  <a:srgbClr val="333333"/>
                </a:solidFill>
              </a:defRPr>
            </a:pPr>
            <a:r>
              <a:rPr b="1"/>
              <a:t>• Vanilla JavaScript:</a:t>
            </a:r>
            <a:r>
              <a:t> Handles DOM updates, modal popups, and AJAX requests dynamically.</a:t>
            </a:r>
          </a:p>
          <a:p>
            <a:pPr>
              <a:spcBef>
                <a:spcPts val="800"/>
              </a:spcBef>
              <a:defRPr sz="1400">
                <a:solidFill>
                  <a:srgbClr val="333333"/>
                </a:solidFill>
              </a:defRPr>
            </a:pPr>
            <a:r>
              <a:rPr b="1"/>
              <a:t>• Interactive Modules:</a:t>
            </a:r>
            <a:r>
              <a:t> Filterable doctor profiles, dynamic inpatient bed layouts.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434840" y="1645920"/>
            <a:ext cx="3291840" cy="4389120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pPr>
              <a:spcAft>
                <a:spcPts val="1000"/>
              </a:spcAft>
              <a:defRPr b="1" sz="1800">
                <a:solidFill>
                  <a:srgbClr val="0C2340"/>
                </a:solidFill>
              </a:defRPr>
            </a:pPr>
            <a:r>
              <a:t>2. Backend API Layer</a:t>
            </a:r>
          </a:p>
          <a:p>
            <a:pPr>
              <a:spcBef>
                <a:spcPts val="800"/>
              </a:spcBef>
              <a:defRPr sz="1400">
                <a:solidFill>
                  <a:srgbClr val="333333"/>
                </a:solidFill>
              </a:defRPr>
            </a:pPr>
            <a:r>
              <a:rPr b="1"/>
              <a:t>• Modular PHP Scripts:</a:t>
            </a:r>
            <a:r>
              <a:t> API endpoints hosted under `/api` for decoupled, quick request processing.</a:t>
            </a:r>
          </a:p>
          <a:p>
            <a:pPr>
              <a:spcBef>
                <a:spcPts val="800"/>
              </a:spcBef>
              <a:defRPr sz="1400">
                <a:solidFill>
                  <a:srgbClr val="333333"/>
                </a:solidFill>
              </a:defRPr>
            </a:pPr>
            <a:r>
              <a:rPr b="1"/>
              <a:t>• PDO Interface:</a:t>
            </a:r>
            <a:r>
              <a:t> Safe query execution with database exception handling.</a:t>
            </a:r>
          </a:p>
          <a:p>
            <a:pPr>
              <a:spcBef>
                <a:spcPts val="800"/>
              </a:spcBef>
              <a:defRPr sz="1400">
                <a:solidFill>
                  <a:srgbClr val="333333"/>
                </a:solidFill>
              </a:defRPr>
            </a:pPr>
            <a:r>
              <a:rPr b="1"/>
              <a:t>• Direct Communication:</a:t>
            </a:r>
            <a:r>
              <a:t> Seamless fetching of JSON arrays via standard HTTP methods.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183879" y="1645920"/>
            <a:ext cx="3291840" cy="4389120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pPr>
              <a:spcAft>
                <a:spcPts val="1000"/>
              </a:spcAft>
              <a:defRPr b="1" sz="1800">
                <a:solidFill>
                  <a:srgbClr val="0C2340"/>
                </a:solidFill>
              </a:defRPr>
            </a:pPr>
            <a:r>
              <a:t>3. MySQL Database</a:t>
            </a:r>
          </a:p>
          <a:p>
            <a:pPr>
              <a:spcBef>
                <a:spcPts val="800"/>
              </a:spcBef>
              <a:defRPr sz="1400">
                <a:solidFill>
                  <a:srgbClr val="333333"/>
                </a:solidFill>
              </a:defRPr>
            </a:pPr>
            <a:r>
              <a:rPr b="1"/>
              <a:t>• Schema `chaitanya_hms`:</a:t>
            </a:r>
            <a:r>
              <a:t> Houses 6 dedicated tables mapping hospital assets.</a:t>
            </a:r>
          </a:p>
          <a:p>
            <a:pPr>
              <a:spcBef>
                <a:spcPts val="800"/>
              </a:spcBef>
              <a:defRPr sz="1400">
                <a:solidFill>
                  <a:srgbClr val="333333"/>
                </a:solidFill>
              </a:defRPr>
            </a:pPr>
            <a:r>
              <a:rPr b="1"/>
              <a:t>• Referential Integrity:</a:t>
            </a:r>
            <a:r>
              <a:t> Structured ENUM fields for tracking stages (e.g., Patient Status, Shift Timings).</a:t>
            </a:r>
          </a:p>
          <a:p>
            <a:pPr>
              <a:spcBef>
                <a:spcPts val="800"/>
              </a:spcBef>
              <a:defRPr sz="1400">
                <a:solidFill>
                  <a:srgbClr val="333333"/>
                </a:solidFill>
              </a:defRPr>
            </a:pPr>
            <a:r>
              <a:rPr b="1"/>
              <a:t>• In-Transaction Commits:</a:t>
            </a:r>
            <a:r>
              <a:t> Transaction locks used during stock processing to ensure data consistency.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65760"/>
            <a:ext cx="10820095" cy="731520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pPr>
              <a:defRPr sz="2800" b="1">
                <a:solidFill>
                  <a:srgbClr val="0C2340"/>
                </a:solidFill>
                <a:latin typeface="Poppins"/>
              </a:defRPr>
            </a:pPr>
            <a:r>
              <a:t>Patient &amp; Bed Management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051560"/>
            <a:ext cx="1828800" cy="54864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645920"/>
            <a:ext cx="10820095" cy="4572000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pPr>
              <a:spcAft>
                <a:spcPts val="1400"/>
              </a:spcAft>
              <a:defRPr sz="2000" b="1">
                <a:solidFill>
                  <a:srgbClr val="009688"/>
                </a:solidFill>
                <a:latin typeface="Poppins"/>
              </a:defRPr>
            </a:pPr>
            <a:r>
              <a:t>Optimized Patient Admission &amp; Bed Allocation</a:t>
            </a:r>
          </a:p>
          <a:p>
            <a:pPr>
              <a:spcBef>
                <a:spcPts val="1200"/>
              </a:spcBef>
              <a:defRPr sz="1600">
                <a:solidFill>
                  <a:srgbClr val="333333"/>
                </a:solidFill>
              </a:defRPr>
            </a:pPr>
            <a:r>
              <a:rPr b="1"/>
              <a:t>• Dynamic Bed Visualizer:</a:t>
            </a:r>
            <a:r>
              <a:t> Real-time representation of Ward Beds (GEN, ICU, PED, MAT, ORT). Occupied beds highlight in Red; vacant beds highlight in Green.</a:t>
            </a:r>
          </a:p>
          <a:p>
            <a:pPr>
              <a:spcBef>
                <a:spcPts val="1200"/>
              </a:spcBef>
              <a:defRPr sz="1600">
                <a:solidFill>
                  <a:srgbClr val="333333"/>
                </a:solidFill>
              </a:defRPr>
            </a:pPr>
            <a:r>
              <a:rPr b="1"/>
              <a:t>• Interactive Inpatient Records:</a:t>
            </a:r>
            <a:r>
              <a:t> Live searching by patient name or bed ID and filtering by ward department.</a:t>
            </a:r>
          </a:p>
          <a:p>
            <a:pPr>
              <a:spcBef>
                <a:spcPts val="1200"/>
              </a:spcBef>
              <a:defRPr sz="1600">
                <a:solidFill>
                  <a:srgbClr val="333333"/>
                </a:solidFill>
              </a:defRPr>
            </a:pPr>
            <a:r>
              <a:rPr b="1"/>
              <a:t>• Status Tracking:</a:t>
            </a:r>
            <a:r>
              <a:t> Color-coded badges for active tracking: Stable (Green), Critical (Red), Post-Op (Orange), Discharge (Blue).</a:t>
            </a:r>
          </a:p>
          <a:p>
            <a:pPr>
              <a:spcBef>
                <a:spcPts val="1200"/>
              </a:spcBef>
              <a:defRPr sz="1600">
                <a:solidFill>
                  <a:srgbClr val="333333"/>
                </a:solidFill>
              </a:defRPr>
            </a:pPr>
            <a:r>
              <a:rPr b="1"/>
              <a:t>• Operational Actions:</a:t>
            </a:r>
            <a:r>
              <a:t> Seamless patient admissions with validation, instant discharges (which frees up the occupied bed in the layout), and record deletion.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65760"/>
            <a:ext cx="10820095" cy="731520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pPr>
              <a:defRPr sz="2800" b="1">
                <a:solidFill>
                  <a:srgbClr val="0C2340"/>
                </a:solidFill>
                <a:latin typeface="Poppins"/>
              </a:defRPr>
            </a:pPr>
            <a:r>
              <a:t>Stock Inventory &amp; Barcode Scanning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051560"/>
            <a:ext cx="1828800" cy="54864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645920"/>
            <a:ext cx="10820095" cy="4572000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pPr>
              <a:spcAft>
                <a:spcPts val="1400"/>
              </a:spcAft>
              <a:defRPr sz="2000" b="1">
                <a:solidFill>
                  <a:srgbClr val="009688"/>
                </a:solidFill>
                <a:latin typeface="Poppins"/>
              </a:defRPr>
            </a:pPr>
            <a:r>
              <a:t>Intelligent Medicine &amp; Consumables Tracking</a:t>
            </a:r>
          </a:p>
          <a:p>
            <a:pPr>
              <a:spcBef>
                <a:spcPts val="1200"/>
              </a:spcBef>
              <a:defRPr sz="1600">
                <a:solidFill>
                  <a:srgbClr val="333333"/>
                </a:solidFill>
              </a:defRPr>
            </a:pPr>
            <a:r>
              <a:rPr b="1"/>
              <a:t>• Low-Stock Alerting:</a:t>
            </a:r>
            <a:r>
              <a:t> Live indicators pointing out items falling below their specified minimum threshold (marked with a prominent red background and 'Restock Urgent' badge).</a:t>
            </a:r>
          </a:p>
          <a:p>
            <a:pPr>
              <a:spcBef>
                <a:spcPts val="1200"/>
              </a:spcBef>
              <a:defRPr sz="1600">
                <a:solidFill>
                  <a:srgbClr val="333333"/>
                </a:solidFill>
              </a:defRPr>
            </a:pPr>
            <a:r>
              <a:rPr b="1"/>
              <a:t>• Barcode/QR Scanner Integration:</a:t>
            </a:r>
            <a:r>
              <a:t> Simulated scanning modal supporting Live Camera (via html5-qrcode), photo capture/upload, and manual entry.</a:t>
            </a:r>
          </a:p>
          <a:p>
            <a:pPr>
              <a:spcBef>
                <a:spcPts val="1200"/>
              </a:spcBef>
              <a:defRPr sz="1600">
                <a:solidFill>
                  <a:srgbClr val="333333"/>
                </a:solidFill>
              </a:defRPr>
            </a:pPr>
            <a:r>
              <a:rPr b="1"/>
              <a:t>• Dynamic Form Autofill:</a:t>
            </a:r>
            <a:r>
              <a:t> Scanning an EAN-13 code identifies the item name and type, instantly autofilling the restock form details.</a:t>
            </a:r>
          </a:p>
          <a:p>
            <a:pPr>
              <a:spcBef>
                <a:spcPts val="1200"/>
              </a:spcBef>
              <a:defRPr sz="1600">
                <a:solidFill>
                  <a:srgbClr val="333333"/>
                </a:solidFill>
              </a:defRPr>
            </a:pPr>
            <a:r>
              <a:rPr b="1"/>
              <a:t>• Stock Orders Log:</a:t>
            </a:r>
            <a:r>
              <a:t> Keeps records of all pending orders. Clicking 'Receive Order' triggers a backend transaction that increments the inventory count automatically.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65760"/>
            <a:ext cx="10820095" cy="731520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pPr>
              <a:defRPr sz="2800" b="1">
                <a:solidFill>
                  <a:srgbClr val="0C2340"/>
                </a:solidFill>
                <a:latin typeface="Poppins"/>
              </a:defRPr>
            </a:pPr>
            <a:r>
              <a:t>Staff Info &amp; Waste Management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051560"/>
            <a:ext cx="1828800" cy="54864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645920"/>
            <a:ext cx="10820095" cy="4572000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pPr>
              <a:spcAft>
                <a:spcPts val="1400"/>
              </a:spcAft>
              <a:defRPr sz="2000" b="1">
                <a:solidFill>
                  <a:srgbClr val="009688"/>
                </a:solidFill>
                <a:latin typeface="Poppins"/>
              </a:defRPr>
            </a:pPr>
            <a:r>
              <a:t>Hospital Shift Rosters &amp; Bio-Hazard Disposal Control</a:t>
            </a:r>
          </a:p>
          <a:p>
            <a:pPr>
              <a:spcBef>
                <a:spcPts val="1200"/>
              </a:spcBef>
              <a:defRPr sz="1600">
                <a:solidFill>
                  <a:srgbClr val="333333"/>
                </a:solidFill>
              </a:defRPr>
            </a:pPr>
            <a:r>
              <a:rPr b="1"/>
              <a:t>• Shift Roster:</a:t>
            </a:r>
            <a:r>
              <a:t> Organizes staff into Morning, Evening, and Night shifts with statuses: 'On Duty', 'Off Duty', and 'On Leave'.</a:t>
            </a:r>
          </a:p>
          <a:p>
            <a:pPr>
              <a:spcBef>
                <a:spcPts val="1200"/>
              </a:spcBef>
              <a:defRPr sz="1600">
                <a:solidFill>
                  <a:srgbClr val="333333"/>
                </a:solidFill>
              </a:defRPr>
            </a:pPr>
            <a:r>
              <a:rPr b="1"/>
              <a:t>• Waste Log:</a:t>
            </a:r>
            <a:r>
              <a:t> Logs weights of Biomedical (Red), Sharps (Orange), and General (Gray) waste to maintain compliance.</a:t>
            </a:r>
          </a:p>
          <a:p>
            <a:pPr>
              <a:spcBef>
                <a:spcPts val="1200"/>
              </a:spcBef>
              <a:defRPr sz="1600">
                <a:solidFill>
                  <a:srgbClr val="333333"/>
                </a:solidFill>
              </a:defRPr>
            </a:pPr>
            <a:r>
              <a:rPr b="1"/>
              <a:t>• Dispose Cart:</a:t>
            </a:r>
            <a:r>
              <a:t> An automated routing system for failed waste entries. If disposal fails, the entry goes to the Dispose Cart.</a:t>
            </a:r>
          </a:p>
          <a:p>
            <a:pPr>
              <a:spcBef>
                <a:spcPts val="1200"/>
              </a:spcBef>
              <a:defRPr sz="1600">
                <a:solidFill>
                  <a:srgbClr val="333333"/>
                </a:solidFill>
              </a:defRPr>
            </a:pPr>
            <a:r>
              <a:rPr b="1"/>
              <a:t>• Actionable Failures:</a:t>
            </a:r>
            <a:r>
              <a:t> From the Dispose Cart, admins can click 'Retry' to resubmit the log as Pending or permanently delete it.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65760"/>
            <a:ext cx="10820095" cy="731520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pPr>
              <a:defRPr sz="2800" b="1">
                <a:solidFill>
                  <a:srgbClr val="0C2340"/>
                </a:solidFill>
                <a:latin typeface="Poppins"/>
              </a:defRPr>
            </a:pPr>
            <a:r>
              <a:t>Recent Technical Upgrades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051560"/>
            <a:ext cx="1828800" cy="54864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645920"/>
            <a:ext cx="10820095" cy="4572000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pPr>
              <a:spcAft>
                <a:spcPts val="1400"/>
              </a:spcAft>
              <a:defRPr sz="2000" b="1">
                <a:solidFill>
                  <a:srgbClr val="009688"/>
                </a:solidFill>
                <a:latin typeface="Poppins"/>
              </a:defRPr>
            </a:pPr>
            <a:r>
              <a:t>Key Upgrades Implemented</a:t>
            </a:r>
          </a:p>
          <a:p>
            <a:pPr>
              <a:spcBef>
                <a:spcPts val="1200"/>
              </a:spcBef>
              <a:defRPr sz="1600">
                <a:solidFill>
                  <a:srgbClr val="333333"/>
                </a:solidFill>
              </a:defRPr>
            </a:pPr>
            <a:r>
              <a:rPr b="1"/>
              <a:t>• Automated Dispose Cart:</a:t>
            </a:r>
            <a:r>
              <a:t> Implemented `api/retry_waste.php` and `api/delete_waste_log.php` to handle failed waste records dynamically.</a:t>
            </a:r>
          </a:p>
          <a:p>
            <a:pPr>
              <a:spcBef>
                <a:spcPts val="1200"/>
              </a:spcBef>
              <a:defRPr sz="1600">
                <a:solidFill>
                  <a:srgbClr val="333333"/>
                </a:solidFill>
              </a:defRPr>
            </a:pPr>
            <a:r>
              <a:rPr b="1"/>
              <a:t>• Dynamic Inventory Auto-Increment:</a:t>
            </a:r>
            <a:r>
              <a:t> Connected the 'Receive Order' button in the dashboard to `api/receive_stock_order.php` for seamless transactions.</a:t>
            </a:r>
          </a:p>
          <a:p>
            <a:pPr>
              <a:spcBef>
                <a:spcPts val="1200"/>
              </a:spcBef>
              <a:defRPr sz="1600">
                <a:solidFill>
                  <a:srgbClr val="333333"/>
                </a:solidFill>
              </a:defRPr>
            </a:pPr>
            <a:r>
              <a:rPr b="1"/>
              <a:t>• Bug Fixes &amp; Refactoring:</a:t>
            </a:r>
            <a:r>
              <a:t> Resolved the Staff department loading issue and implemented robust, error-checked SQL schema scripts.</a:t>
            </a:r>
          </a:p>
          <a:p>
            <a:pPr>
              <a:spcBef>
                <a:spcPts val="1200"/>
              </a:spcBef>
              <a:defRPr sz="1600">
                <a:solidFill>
                  <a:srgbClr val="333333"/>
                </a:solidFill>
              </a:defRPr>
            </a:pPr>
            <a:r>
              <a:rPr b="1"/>
              <a:t>• Data Consistency:</a:t>
            </a:r>
            <a:r>
              <a:t> Fully migrated the static mock arrays to MySQL database tables, making the dashboard fully operational.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234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1645920"/>
            <a:ext cx="9601200" cy="4114800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pPr>
              <a:spcAft>
                <a:spcPts val="2000"/>
              </a:spcAft>
              <a:defRPr sz="3600" b="1">
                <a:solidFill>
                  <a:srgbClr val="FFFFFF"/>
                </a:solidFill>
                <a:latin typeface="Poppins"/>
              </a:defRPr>
            </a:pPr>
            <a:r>
              <a:t>Project Highlights &amp; Conclusion</a:t>
            </a:r>
          </a:p>
          <a:p>
            <a:pPr>
              <a:spcBef>
                <a:spcPts val="1200"/>
              </a:spcBef>
              <a:defRPr sz="1800">
                <a:solidFill>
                  <a:srgbClr val="DCE1EB"/>
                </a:solidFill>
                <a:latin typeface="Poppins"/>
              </a:defRPr>
            </a:pPr>
            <a:r>
              <a:t>✔  Modern, visual, and highly responsive UI/UX designed using standard CSS3 styling variables.</a:t>
            </a:r>
          </a:p>
          <a:p>
            <a:pPr>
              <a:spcBef>
                <a:spcPts val="1200"/>
              </a:spcBef>
              <a:defRPr sz="1800">
                <a:solidFill>
                  <a:srgbClr val="DCE1EB"/>
                </a:solidFill>
                <a:latin typeface="Poppins"/>
              </a:defRPr>
            </a:pPr>
            <a:r>
              <a:t>✔  Robust database integration that implements real-world medical workflows like bed allocation, low-stock warnings, and barcode scanner entries.</a:t>
            </a:r>
          </a:p>
          <a:p>
            <a:pPr>
              <a:spcBef>
                <a:spcPts val="1200"/>
              </a:spcBef>
              <a:defRPr sz="1800">
                <a:solidFill>
                  <a:srgbClr val="DCE1EB"/>
                </a:solidFill>
                <a:latin typeface="Poppins"/>
              </a:defRPr>
            </a:pPr>
            <a:r>
              <a:t>✔  A highly scalable codebase suitable for further feature additions (e.g., patient billing, laboratory records).</a:t>
            </a:r>
          </a:p>
          <a:p>
            <a:pPr>
              <a:spcBef>
                <a:spcPts val="1200"/>
              </a:spcBef>
              <a:defRPr sz="1800">
                <a:solidFill>
                  <a:srgbClr val="DCE1EB"/>
                </a:solidFill>
                <a:latin typeface="Poppins"/>
              </a:defRPr>
            </a:pPr>
            <a:r>
              <a:t>✔  Demonstrates complete full-stack capabilities using foundational, clean web development stacks.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